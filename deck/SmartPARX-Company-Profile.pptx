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a954bc0-c433-a184-2ed6-6d137c8a934a}">
          <p14:sldIdLst>
            <p14:sldId id="256"/>
            <p14:sldId id="257"/>
            <p14:sldId id="258"/>
            <p14:sldId id="259"/>
          </p14:sldIdLst>
        </p14:section>
        <p14:section name="Product range" id="{b439b4f9-13a9-16fb-50d5-fa32739c5de9}">
          <p14:sldIdLst>
            <p14:sldId id="260"/>
            <p14:sldId id="261"/>
            <p14:sldId id="262"/>
            <p14:sldId id="263"/>
            <p14:sldId id="264"/>
          </p14:sldIdLst>
        </p14:section>
        <p14:section name="Planning &amp; safety" id="{1cc4dbf7-d919-9751-6ae7-ba64bbb835b3}">
          <p14:sldIdLst>
            <p14:sldId id="265"/>
            <p14:sldId id="266"/>
            <p14:sldId id="267"/>
          </p14:sldIdLst>
        </p14:section>
        <p14:section name="Made in Ahmedabad" id="{ecdcc2b4-c075-5bcf-ce1c-8792d8a207c1}">
          <p14:sldIdLst>
            <p14:sldId id="268"/>
            <p14:sldId id="269"/>
            <p14:sldId id="270"/>
            <p14:sldId id="271"/>
          </p14:sldIdLst>
        </p14:section>
        <p14:section name="Working with us" id="{ea13fd91-1487-3922-bfb5-3d2f2d0e7ac2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SmartPARX Parking Solutions LLP designs, manufactures and installs car parking systems from Ahmedabad. This profile covers who we are, the product range, planning guidance, manufacturing, projects and how to start a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 from the SmartPARX brochure: 2500+ systems installed, 70+ clients, 10+ two-level stacker models, and a 2-year zero-pay warranty plus 5 more years with an AMC.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Founded 2017 by Aakash Contractor. Key differentiator: indigenous hydraulics through Shalin Hydraulics plus our own manufacturing plant, so cylinders, power units and structures are built and tested under one 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Brochure differentiators: robust in-house design, in-house manufacturing, quick installation, customisation from 1.8 m to 10 m, the widest range (10+ models) and the 2 + 5 year warranty.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range covers two-post stackers (Economy, Premium, Premium+, Luxury+), heavy-duty systems (2L3PS+, four-pole suspended), multi-level and puzzle systems (puzzle, TPP+ three-level, pit) and specialised builds (single post, two-wheeler, customised).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share platform widths of 2100–2400 mm (Luxury+ 2200–2400) and a 3 HP motor. Premium+ and Luxury+ use robotic-welded heavy-gauge columns with extra-long bases, so no upper supports or slab punctures are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Reverse parking puts more load on the cantilever, so each model has a lower advised limit for reverse-parked cars. Figures from the brochure spec sheets.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support add-ons: limit switch, car presence, height and length sensors, EV charging provision and wider platforms. All-weather powder coating with zinc epoxy primer; hot-dip galvanizing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Puzzle and three-level specifications are configured per site after a survey. Pit systems suit sites where overhead clearance is limited.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Planning guidance from the brochure stacker guidelines, followed by built-in safety features and house rules for residents.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Heights exclude fire-suppression pipes, plumbing and other services. Column clearance varies ±100 mm between standard models. A free site survey confirms the final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built-in protections are standard. The house rules come from the brochure and should be shared with residents and drivers at handover.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Manufacturing process, installations and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Ten-step in-house process from the brochure: cutting, forming, welding, machining, honing, fabrication, assembly, coating, testing and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selection of installations. More photos at smartparx.com/projects.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Testimonials are from the SmartPARX brochure. Confirm written permission from each client before external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SmartPARX is the only company offering a 2-year zero-pay warranty plus 5 more years with an AMC.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free site survey offer and contact details. Leave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57607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SmartPARX Parking Solutions LLP  ·  Company Profile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image" Target="../media/image-15-4.jpeg"/><Relationship Id="rId5" Type="http://schemas.openxmlformats.org/officeDocument/2006/relationships/image" Target="../media/image-15-5.jpe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w of SmartPARX two-post parking stackers in a bas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Smart</a:t>
            </a:r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PARX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87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Do it the smart way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57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 PROFILE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23774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Automated car parking systems, </a:t>
            </a:r>
            <a:pPr algn="l"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designed and built in-house.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17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Two-post stackers  ·  Heavy-duty  ·  Puzzle  ·  Pit  ·  Custom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89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Ahmedabad, India  ·  Since 2017  ·  ISO 9001:2015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2500+ parking systems installed since 2017</a:t>
            </a:r>
            <a:endParaRPr lang="en-US" sz="3000" dirty="0"/>
          </a:p>
        </p:txBody>
      </p:sp>
      <p:sp>
        <p:nvSpPr>
          <p:cNvPr id="4" name="Stat 2500+"/>
          <p:cNvSpPr/>
          <p:nvPr/>
        </p:nvSpPr>
        <p:spPr>
          <a:xfrm>
            <a:off x="548640" y="1691640"/>
            <a:ext cx="2567864" cy="2057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2500+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Parking systems installed</a:t>
            </a:r>
            <a:endParaRPr lang="en-US" sz="1400" dirty="0"/>
          </a:p>
        </p:txBody>
      </p:sp>
      <p:sp>
        <p:nvSpPr>
          <p:cNvPr id="7" name="Stat 70+"/>
          <p:cNvSpPr/>
          <p:nvPr/>
        </p:nvSpPr>
        <p:spPr>
          <a:xfrm>
            <a:off x="3390824" y="1691640"/>
            <a:ext cx="2567864" cy="2057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65144" y="196596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70+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665144" y="301752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Builder &amp; enterprise clients</a:t>
            </a:r>
            <a:endParaRPr lang="en-US" sz="1400" dirty="0"/>
          </a:p>
        </p:txBody>
      </p:sp>
      <p:sp>
        <p:nvSpPr>
          <p:cNvPr id="10" name="Stat 10+"/>
          <p:cNvSpPr/>
          <p:nvPr/>
        </p:nvSpPr>
        <p:spPr>
          <a:xfrm>
            <a:off x="6233008" y="1691640"/>
            <a:ext cx="2567864" cy="2057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07328" y="196596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10+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507328" y="301752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Two-level stacker models</a:t>
            </a:r>
            <a:endParaRPr lang="en-US" sz="1400" dirty="0"/>
          </a:p>
        </p:txBody>
      </p:sp>
      <p:sp>
        <p:nvSpPr>
          <p:cNvPr id="13" name="Stat 2+5"/>
          <p:cNvSpPr/>
          <p:nvPr/>
        </p:nvSpPr>
        <p:spPr>
          <a:xfrm>
            <a:off x="9075191" y="1691640"/>
            <a:ext cx="2567864" cy="2057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49511" y="1965960"/>
            <a:ext cx="2019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2+5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9349511" y="301752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Years warranty with AMC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29768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" y="4892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ISO 9001:2015 certified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257800"/>
            <a:ext cx="247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Technical training and quality control at the centre of every project.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390824" y="4160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84" y="429768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390824" y="4892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Two production units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3390824" y="5257800"/>
            <a:ext cx="247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In-house manufacturing at Vatva GIDC, Ahmedabad.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233008" y="4160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168" y="429768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233008" y="4892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Indigenous hydraulics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6233008" y="5257800"/>
            <a:ext cx="247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Cylinders and power units built through our Shalin Hydraulics partnership.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9075191" y="41605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351" y="429768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075191" y="4892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 charging compatible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9075191" y="5257800"/>
            <a:ext cx="2476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Every SmartPARX system supports EV charging provisions.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US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Specialists in one thing: fitting more cars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SmartPARX is a specialty car parking manufacturing brand, established in 2017 and founded by Mr. Aakash Contractor. We design, manufacture and execute customised parking equipment.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Our partnership with Shalin Hydraulics makes us the only brand in the market with indigenous hydraulic solutions and an in-house manufacturing plant.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accent3"/>
                </a:solidFill>
              </a:rPr>
              <a:t>From stacker parking to tower, puzzle and pit systems, our engineers and technicians work to ISO 9001:2015, with quality control built into every step.</a:t>
            </a:r>
            <a:endParaRPr lang="en-US" sz="1600" dirty="0"/>
          </a:p>
        </p:txBody>
      </p:sp>
      <p:pic>
        <p:nvPicPr>
          <p:cNvPr id="5" name="Image 0" descr="SmartPARX three-level stacker holding three ca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691640"/>
            <a:ext cx="5120640" cy="4434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SMARTPARX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reasons developers choose us</a:t>
            </a:r>
            <a:endParaRPr lang="en-US" sz="3000" dirty="0"/>
          </a:p>
        </p:txBody>
      </p:sp>
      <p:sp>
        <p:nvSpPr>
          <p:cNvPr id="4" name="Reason 1"/>
          <p:cNvSpPr/>
          <p:nvPr/>
        </p:nvSpPr>
        <p:spPr>
          <a:xfrm>
            <a:off x="548640" y="1691640"/>
            <a:ext cx="3515258" cy="2148840"/>
          </a:xfrm>
          <a:prstGeom prst="roundRect">
            <a:avLst>
              <a:gd name="adj" fmla="val 6809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1579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7432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Dynamic, robust design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089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In-house R&amp;D team and state-of-the-art engineering practice. Zero tolerance on quality.</a:t>
            </a:r>
            <a:endParaRPr lang="en-US" sz="1300" dirty="0"/>
          </a:p>
        </p:txBody>
      </p:sp>
      <p:sp>
        <p:nvSpPr>
          <p:cNvPr id="9" name="Reason 2"/>
          <p:cNvSpPr/>
          <p:nvPr/>
        </p:nvSpPr>
        <p:spPr>
          <a:xfrm>
            <a:off x="4338218" y="1691640"/>
            <a:ext cx="3515258" cy="2148840"/>
          </a:xfrm>
          <a:prstGeom prst="roundRect">
            <a:avLst>
              <a:gd name="adj" fmla="val 6809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58258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562" y="21579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8258" y="27432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Built in-house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58258" y="31089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Steel, cylinders and power units made in our two Ahmedabad units.</a:t>
            </a:r>
            <a:endParaRPr lang="en-US" sz="1300" dirty="0"/>
          </a:p>
        </p:txBody>
      </p:sp>
      <p:sp>
        <p:nvSpPr>
          <p:cNvPr id="14" name="Reason 3"/>
          <p:cNvSpPr/>
          <p:nvPr/>
        </p:nvSpPr>
        <p:spPr>
          <a:xfrm>
            <a:off x="8127797" y="1691640"/>
            <a:ext cx="3515258" cy="2148840"/>
          </a:xfrm>
          <a:prstGeom prst="roundRect">
            <a:avLst>
              <a:gd name="adj" fmla="val 6809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47837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141" y="21579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47837" y="274320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Quick, accurate installation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47837" y="31089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Installed right the first time, so service calls stay rare.</a:t>
            </a:r>
            <a:endParaRPr lang="en-US" sz="1300" dirty="0"/>
          </a:p>
        </p:txBody>
      </p:sp>
      <p:sp>
        <p:nvSpPr>
          <p:cNvPr id="19" name="Reason 4"/>
          <p:cNvSpPr/>
          <p:nvPr/>
        </p:nvSpPr>
        <p:spPr>
          <a:xfrm>
            <a:off x="548640" y="4114800"/>
            <a:ext cx="3515258" cy="2148840"/>
          </a:xfrm>
          <a:prstGeom prst="roundRect">
            <a:avLst>
              <a:gd name="adj" fmla="val 6809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434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8114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51663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Customisation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5321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Parking lifts from 1.8 m to 10 m, built around walls and D-walls.</a:t>
            </a:r>
            <a:endParaRPr lang="en-US" sz="1300" dirty="0"/>
          </a:p>
        </p:txBody>
      </p:sp>
      <p:sp>
        <p:nvSpPr>
          <p:cNvPr id="24" name="Reason 5"/>
          <p:cNvSpPr/>
          <p:nvPr/>
        </p:nvSpPr>
        <p:spPr>
          <a:xfrm>
            <a:off x="4338218" y="4114800"/>
            <a:ext cx="3515258" cy="2148840"/>
          </a:xfrm>
          <a:prstGeom prst="roundRect">
            <a:avLst>
              <a:gd name="adj" fmla="val 6809"/>
            </a:avLst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4658258" y="4434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4562" y="458114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58258" y="51663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Widest range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658258" y="55321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The only company offering 10+ two-level stacker models.</a:t>
            </a:r>
            <a:endParaRPr lang="en-US" sz="1300" dirty="0"/>
          </a:p>
        </p:txBody>
      </p:sp>
      <p:sp>
        <p:nvSpPr>
          <p:cNvPr id="29" name="Reason 6"/>
          <p:cNvSpPr/>
          <p:nvPr/>
        </p:nvSpPr>
        <p:spPr>
          <a:xfrm>
            <a:off x="8127797" y="4114800"/>
            <a:ext cx="3515258" cy="2148840"/>
          </a:xfrm>
          <a:prstGeom prst="roundRect">
            <a:avLst>
              <a:gd name="adj" fmla="val 6809"/>
            </a:avLst>
          </a:prstGeom>
          <a:solidFill>
            <a:schemeClr val="bg2"/>
          </a:solidFill>
          <a:ln/>
        </p:spPr>
      </p:sp>
      <p:sp>
        <p:nvSpPr>
          <p:cNvPr id="30" name="Shape 23"/>
          <p:cNvSpPr/>
          <p:nvPr/>
        </p:nvSpPr>
        <p:spPr>
          <a:xfrm>
            <a:off x="8447837" y="4434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4141" y="458114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47837" y="51663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 + 5 year warranty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447837" y="55321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2 years zero-pay warranty, plus 5 more years with an AMC.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PARX three-level stacker with three ca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097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01</a:t>
            </a:r>
            <a:endParaRPr lang="en-US" sz="8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3774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Product range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118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Twelve systems across four families: two-post stackers, heavy-duty, multi-level and puzzle, and specialised builds.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TWO-POST STACKERS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models, one for every car and budget</a:t>
            </a:r>
            <a:endParaRPr lang="en-US" sz="3000" dirty="0"/>
          </a:p>
        </p:txBody>
      </p:sp>
      <p:pic>
        <p:nvPicPr>
          <p:cNvPr id="4" name="Image 0" descr="Economy two-post stacker ren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508760"/>
            <a:ext cx="2064944" cy="1600200"/>
          </a:xfrm>
          <a:prstGeom prst="rect">
            <a:avLst/>
          </a:prstGeom>
        </p:spPr>
      </p:pic>
      <p:pic>
        <p:nvPicPr>
          <p:cNvPr id="5" name="Image 1" descr="Premium two-post stacker ren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024" y="1508760"/>
            <a:ext cx="2064944" cy="1600200"/>
          </a:xfrm>
          <a:prstGeom prst="rect">
            <a:avLst/>
          </a:prstGeom>
        </p:spPr>
      </p:pic>
      <p:pic>
        <p:nvPicPr>
          <p:cNvPr id="6" name="Image 2" descr="Premium+ two-post stacker ren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48" y="1508760"/>
            <a:ext cx="2064944" cy="1600200"/>
          </a:xfrm>
          <a:prstGeom prst="rect">
            <a:avLst/>
          </a:prstGeom>
        </p:spPr>
      </p:pic>
      <p:pic>
        <p:nvPicPr>
          <p:cNvPr id="7" name="Image 3" descr="Luxury+ two-post stacker rend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508760"/>
            <a:ext cx="2064944" cy="16002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47824"/>
                <a:gridCol w="2247824"/>
                <a:gridCol w="2247824"/>
                <a:gridCol w="2247824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Premium+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Luxury+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DPE01–06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DPP01–03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DPP+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DPL+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Lifting capacity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2,300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2,700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 parking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1,450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1,800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2,000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2,350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length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 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1800 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2500 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3200 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weight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Lift mechanism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Telescopic cylinder + balancing chain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Larger telescopic cylinder, Italian DAS seals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Single-stroke cylinder, 2:1 chain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 cylinders + dual chains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Enamel, red-oxide primer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All-weather PU, zinc epoxy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Powder coat; HDG on request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Powder coat; HDG on request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CHOOSING A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Choose by the heaviest car, and whether it parks in reverse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Load limits by model (kg)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34440" y="5486400"/>
            <a:ext cx="6537960" cy="0"/>
          </a:xfrm>
          <a:prstGeom prst="line">
            <a:avLst/>
          </a:prstGeom>
          <a:noFill/>
          <a:ln w="12700">
            <a:solidFill>
              <a:srgbClr val="8A95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35838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34440" y="4389120"/>
            <a:ext cx="6537960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2611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1,000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34440" y="3291840"/>
            <a:ext cx="6537960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6382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2,000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6537960" cy="0"/>
          </a:xfrm>
          <a:prstGeom prst="line">
            <a:avLst/>
          </a:prstGeom>
          <a:noFill/>
          <a:ln w="9525">
            <a:solidFill>
              <a:srgbClr val="E7E5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6654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3,000</a:t>
            </a:r>
            <a:endParaRPr lang="en-US" sz="1000" dirty="0"/>
          </a:p>
        </p:txBody>
      </p:sp>
      <p:sp>
        <p:nvSpPr>
          <p:cNvPr id="13" name="Economy capacity"/>
          <p:cNvSpPr/>
          <p:nvPr/>
        </p:nvSpPr>
        <p:spPr>
          <a:xfrm>
            <a:off x="1429893" y="3291840"/>
            <a:ext cx="566928" cy="21945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92733" y="30175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2,000</a:t>
            </a:r>
            <a:endParaRPr lang="en-US" sz="1100" dirty="0"/>
          </a:p>
        </p:txBody>
      </p:sp>
      <p:sp>
        <p:nvSpPr>
          <p:cNvPr id="15" name="Economy reverse"/>
          <p:cNvSpPr/>
          <p:nvPr/>
        </p:nvSpPr>
        <p:spPr>
          <a:xfrm>
            <a:off x="2106549" y="3895344"/>
            <a:ext cx="566928" cy="159105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969389" y="362102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1,450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559552"/>
            <a:ext cx="1634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Economy</a:t>
            </a:r>
            <a:endParaRPr lang="en-US" sz="1300" dirty="0"/>
          </a:p>
        </p:txBody>
      </p:sp>
      <p:sp>
        <p:nvSpPr>
          <p:cNvPr id="18" name="Premium capacity"/>
          <p:cNvSpPr/>
          <p:nvPr/>
        </p:nvSpPr>
        <p:spPr>
          <a:xfrm>
            <a:off x="3064383" y="2962656"/>
            <a:ext cx="566928" cy="252374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927223" y="268833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2,300</a:t>
            </a:r>
            <a:endParaRPr lang="en-US" sz="1100" dirty="0"/>
          </a:p>
        </p:txBody>
      </p:sp>
      <p:sp>
        <p:nvSpPr>
          <p:cNvPr id="20" name="Premium reverse"/>
          <p:cNvSpPr/>
          <p:nvPr/>
        </p:nvSpPr>
        <p:spPr>
          <a:xfrm>
            <a:off x="3741039" y="3511296"/>
            <a:ext cx="566928" cy="19751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03879" y="3236976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1,800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868930" y="5559552"/>
            <a:ext cx="1634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Premium</a:t>
            </a:r>
            <a:endParaRPr lang="en-US" sz="1300" dirty="0"/>
          </a:p>
        </p:txBody>
      </p:sp>
      <p:sp>
        <p:nvSpPr>
          <p:cNvPr id="23" name="Premium+ capacity"/>
          <p:cNvSpPr/>
          <p:nvPr/>
        </p:nvSpPr>
        <p:spPr>
          <a:xfrm>
            <a:off x="4698873" y="2743200"/>
            <a:ext cx="566928" cy="2743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61713" y="246888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2,500</a:t>
            </a:r>
            <a:endParaRPr lang="en-US" sz="1100" dirty="0"/>
          </a:p>
        </p:txBody>
      </p:sp>
      <p:sp>
        <p:nvSpPr>
          <p:cNvPr id="25" name="Premium+ reverse"/>
          <p:cNvSpPr/>
          <p:nvPr/>
        </p:nvSpPr>
        <p:spPr>
          <a:xfrm>
            <a:off x="5375529" y="3291840"/>
            <a:ext cx="566928" cy="219456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38369" y="301752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2,000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03420" y="5559552"/>
            <a:ext cx="1634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Premium+</a:t>
            </a:r>
            <a:endParaRPr lang="en-US" sz="1300" dirty="0"/>
          </a:p>
        </p:txBody>
      </p:sp>
      <p:sp>
        <p:nvSpPr>
          <p:cNvPr id="28" name="Luxury+ capacity"/>
          <p:cNvSpPr/>
          <p:nvPr/>
        </p:nvSpPr>
        <p:spPr>
          <a:xfrm>
            <a:off x="6333363" y="2523744"/>
            <a:ext cx="566928" cy="296265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96203" y="224942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2,700</a:t>
            </a:r>
            <a:endParaRPr lang="en-US" sz="1100" dirty="0"/>
          </a:p>
        </p:txBody>
      </p:sp>
      <p:sp>
        <p:nvSpPr>
          <p:cNvPr id="30" name="Luxury+ reverse"/>
          <p:cNvSpPr/>
          <p:nvPr/>
        </p:nvSpPr>
        <p:spPr>
          <a:xfrm>
            <a:off x="7010019" y="2907792"/>
            <a:ext cx="566928" cy="25786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72859" y="263347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2,350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137910" y="5559552"/>
            <a:ext cx="1634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Luxury+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234440" y="5916168"/>
            <a:ext cx="201168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527048" y="5879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Lifting capacity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11880" y="5916168"/>
            <a:ext cx="201168" cy="20116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904488" y="5879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Reverse parking limit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38160" y="1783080"/>
            <a:ext cx="3504895" cy="1234440"/>
          </a:xfrm>
          <a:prstGeom prst="roundRect">
            <a:avLst>
              <a:gd name="adj" fmla="val 10370"/>
            </a:avLst>
          </a:prstGeom>
          <a:solidFill>
            <a:schemeClr val="bg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366760" y="1947672"/>
            <a:ext cx="3047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Everyday sedans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366760" y="228600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Economy lifts up to 2,000 kg for budget-friendly projects.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38160" y="3246120"/>
            <a:ext cx="3504895" cy="1234440"/>
          </a:xfrm>
          <a:prstGeom prst="roundRect">
            <a:avLst>
              <a:gd name="adj" fmla="val 10370"/>
            </a:avLst>
          </a:prstGeom>
          <a:solidFill>
            <a:schemeClr val="bg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366760" y="3410712"/>
            <a:ext cx="3047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Reverse parking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374904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Premium and Premium+ raise the reverse limit to 1,800 and 2,000 kg.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138160" y="4709160"/>
            <a:ext cx="3504895" cy="1234440"/>
          </a:xfrm>
          <a:prstGeom prst="roundRect">
            <a:avLst>
              <a:gd name="adj" fmla="val 10370"/>
            </a:avLst>
          </a:prstGeom>
          <a:solidFill>
            <a:schemeClr val="bg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366760" y="4873752"/>
            <a:ext cx="3047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Luxury cars &amp; SUVs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8366760" y="5212080"/>
            <a:ext cx="3047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Luxury+ lifts 2,700 kg, load-tested to 3 tonnes for reverse parking.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HEAVY-DUTY SYSTEMS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Structural-steel frames for wide platforms and long spans</a:t>
            </a:r>
            <a:endParaRPr lang="en-US" sz="3000" dirty="0"/>
          </a:p>
        </p:txBody>
      </p:sp>
      <p:pic>
        <p:nvPicPr>
          <p:cNvPr id="4" name="Image 0" descr="Three Pole System 2L3PS+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64328" cy="2148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93192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Three Pole System 2L3PS+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34840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636008"/>
            <a:ext cx="2545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2,500 kg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001768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202936"/>
            <a:ext cx="2545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2,200 – 2,700 mm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568696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769864"/>
            <a:ext cx="2545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1,080 kg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367964" y="4434840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367964" y="4636008"/>
            <a:ext cx="2545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ISMB 150 × 75 columns, ISMC channel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367964" y="5001768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367964" y="5202936"/>
            <a:ext cx="2545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Telescopic cylinder, double rope, 3 HP</a:t>
            </a:r>
            <a:endParaRPr lang="en-US" sz="1300" dirty="0"/>
          </a:p>
        </p:txBody>
      </p:sp>
      <p:pic>
        <p:nvPicPr>
          <p:cNvPr id="16" name="Image 1" descr="Four Pole Suspended (2×2 / 2×3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600200"/>
            <a:ext cx="5364328" cy="214884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278728" y="393192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Four Pole Suspended (2×2 / 2×3)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6278728" y="4434840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278728" y="4636008"/>
            <a:ext cx="2545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2,200 / 2,700 kg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278728" y="5001768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6278728" y="5202936"/>
            <a:ext cx="2545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2,100 – 2,700 mm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278728" y="5568696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278728" y="5769864"/>
            <a:ext cx="2545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550 kg per car space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9098051" y="4434840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9098051" y="4636008"/>
            <a:ext cx="2545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I-section / H-beam frame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9098051" y="5001768"/>
            <a:ext cx="25450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9098051" y="5202936"/>
            <a:ext cx="2545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Motor gearbox 3 / 5 HP, 4-way lifting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MULTI-LEVEL, PUZZLE &amp; SPECIALISED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More levels, tighter sites, unusual structures</a:t>
            </a:r>
            <a:endParaRPr lang="en-US" sz="3000" dirty="0"/>
          </a:p>
        </p:txBody>
      </p:sp>
      <p:pic>
        <p:nvPicPr>
          <p:cNvPr id="4" name="Image 0" descr="Puzzle Par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429000" cy="1783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41985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Puzzle Parking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Motorised pallets; any car on demand</a:t>
            </a:r>
            <a:endParaRPr lang="en-US" sz="1400" dirty="0"/>
          </a:p>
        </p:txBody>
      </p:sp>
      <p:pic>
        <p:nvPicPr>
          <p:cNvPr id="6" name="Image 1" descr="Three Level TPP+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00200"/>
            <a:ext cx="3429000" cy="1783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251960" y="341985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Three Level TPP+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Three cars in one bay</a:t>
            </a:r>
            <a:endParaRPr lang="en-US" sz="1400" dirty="0"/>
          </a:p>
        </p:txBody>
      </p:sp>
      <p:pic>
        <p:nvPicPr>
          <p:cNvPr id="8" name="Image 2" descr="Pit / Pit-Puzz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3429000" cy="17830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7515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Pit / Pit-Puzzle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2,000 / 2,500 kg, below grade</a:t>
            </a:r>
            <a:endParaRPr lang="en-US" sz="1400" dirty="0"/>
          </a:p>
        </p:txBody>
      </p:sp>
      <p:pic>
        <p:nvPicPr>
          <p:cNvPr id="10" name="Image 3" descr="Customiz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931920"/>
            <a:ext cx="3429000" cy="17830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4251960" y="575157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Customized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Lifts from 1.8 m to 10 m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8046720" y="1600200"/>
            <a:ext cx="3596335" cy="45262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3" name="Text 7"/>
          <p:cNvSpPr txBox="1"/>
          <p:nvPr/>
        </p:nvSpPr>
        <p:spPr>
          <a:xfrm>
            <a:off x="8366760" y="187452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FOR TIGHT SPACES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8366760" y="233172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Single Post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8366760" y="2679192"/>
            <a:ext cx="2956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2,000 kg · 2,100 mm platform. One laser-cut column for bays against walls or D-walls.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8366760" y="356616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Two Wheeler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8366760" y="3913632"/>
            <a:ext cx="2956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300 kg · 800 – 1,400 mm platforms on shared hydraulic lines. Doubles bike parking.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8366760" y="4800600"/>
            <a:ext cx="2956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Before or after BU/OC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66760" y="5148072"/>
            <a:ext cx="2956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Specialised systems can be installed before or after permission, fitted around existing structure.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w of SmartPARX stacker colum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097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02</a:t>
            </a:r>
            <a:endParaRPr lang="en-US" sz="8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3774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Planning &amp; safety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118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clear heights, column spacing and driveway widths our engineers plan for, and the protections built into every system.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STACKER PLANNING GUIDE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Will it fit? Clear height, width and driveway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286000" cy="201168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SEDAN + SEDAN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3,400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mm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Clear height · lower level 1,700 mm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63240" y="1600200"/>
            <a:ext cx="228600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91840" y="1810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SUV + SEDAN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194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3,800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mm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Clear height · lower level 2,100 mm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600200"/>
            <a:ext cx="2286000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06440" y="1810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SUV + SUV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2194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4,300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mm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Clear height · lower level 2,100 mm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86200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Width between columns (mm)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708660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46304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Usable platform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 bay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2 bays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 bays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2,100 mm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2,480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4,960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7,440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2,200 mm  (recommended)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2,580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5,160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7,740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2,300 mm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2,680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5,360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8,040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2,400 mm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2,780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5,560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8,340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5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8092440" y="1600200"/>
            <a:ext cx="3550615" cy="4526280"/>
          </a:xfrm>
          <a:prstGeom prst="roundRect">
            <a:avLst>
              <a:gd name="adj" fmla="val 4121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412480" y="1874520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5,150 mm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2286000"/>
            <a:ext cx="2910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Bay length for cars up to 5 m (4,000 + 700 front)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2898648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5,500 mm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3310128"/>
            <a:ext cx="2910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Minimum driveway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412480" y="3922776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6,000 mm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8412480" y="4334256"/>
            <a:ext cx="2910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Driveway for cars longer than 4.7 m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412480" y="4946904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2,200 mm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5358384"/>
            <a:ext cx="2910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Recommended minimum platform width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protections built into every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237744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0208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0604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Auto-lock on both columns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1752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Spring-return mechanical locks hold the platform if hydraulics ever fail or leak. Standard on every model.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8218" y="1600200"/>
            <a:ext cx="3515258" cy="237744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10" name="Shape 7"/>
          <p:cNvSpPr/>
          <p:nvPr/>
        </p:nvSpPr>
        <p:spPr>
          <a:xfrm>
            <a:off x="4658258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562" y="20208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58258" y="260604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Height-adjustable limit switch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658258" y="301752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Prevents motor overload and over-travel, and sets the top position to your slab or beam.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27797" y="1600200"/>
            <a:ext cx="3515258" cy="237744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47837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141" y="20208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47837" y="260604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Presence + height sensors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447837" y="3017520"/>
            <a:ext cx="28751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Stops the platform lowering onto a parked car, and stops tall cars touching the slab or services.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House rules for drivers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663440"/>
            <a:ext cx="5577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chemeClr val="accent3"/>
                </a:solidFill>
              </a:rPr>
              <a:t>Drive onto the platform at 5–10 km/h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chemeClr val="accent3"/>
                </a:solidFill>
              </a:rPr>
              <a:t>The car must touch the platform stop bar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chemeClr val="accent3"/>
                </a:solidFill>
              </a:rPr>
              <a:t>Never wash cars on or below the platform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chemeClr val="accent3"/>
                </a:solidFill>
              </a:rPr>
              <a:t>Keep approach slopes at 4% or less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chemeClr val="accent3"/>
                </a:solidFill>
              </a:rPr>
              <a:t>Keep column anchors out of standing water</a:t>
            </a:r>
            <a:endParaRPr lang="en-US" sz="1300" dirty="0"/>
          </a:p>
        </p:txBody>
      </p:sp>
      <p:pic>
        <p:nvPicPr>
          <p:cNvPr id="21" name="Image 3" descr="SmartPARX stacker columns with yellow safety finis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535" y="4251960"/>
            <a:ext cx="5303520" cy="1874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PARX manufacturing Unit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097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03</a:t>
            </a:r>
            <a:endParaRPr lang="en-US" sz="8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3774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Made in Ahmedabad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118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How we build, where we have installed, and who trusts us.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 make the steel and the hydraulics</a:t>
            </a:r>
            <a:endParaRPr lang="en-US" sz="3000" dirty="0"/>
          </a:p>
        </p:txBody>
      </p:sp>
      <p:pic>
        <p:nvPicPr>
          <p:cNvPr id="4" name="Image 0" descr="SmartPARX manufacturing Unit 1, Vatva GID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703320" cy="2331720"/>
          </a:xfrm>
          <a:prstGeom prst="rect">
            <a:avLst/>
          </a:prstGeom>
        </p:spPr>
      </p:pic>
      <p:pic>
        <p:nvPicPr>
          <p:cNvPr id="5" name="Image 1" descr="Three-level stacker frame in fabr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600200"/>
            <a:ext cx="3703320" cy="2331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9593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 1 · Vatva GIDC, Phase-IV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26280" y="39593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Frames fabricated in-house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8549640" y="1600200"/>
            <a:ext cx="309341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3"/>
                </a:solidFill>
              </a:rPr>
              <a:t>A fleet of Indian, American, Chinese, Swiss and German machinery, from laser cutting to honing. Every power unit is tested for its maximum rated capacity before it leaves the plant.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4434840"/>
            <a:ext cx="2072579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31520" y="44348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4434840"/>
            <a:ext cx="129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Laser / plasma cutting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804099" y="4434840"/>
            <a:ext cx="2072579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986979" y="44348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444179" y="4434840"/>
            <a:ext cx="129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Shearing &amp; bending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59558" y="4434840"/>
            <a:ext cx="2072579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242438" y="44348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699638" y="4434840"/>
            <a:ext cx="129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Robotic / MIG welding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315017" y="4434840"/>
            <a:ext cx="2072579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497897" y="44348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955097" y="4434840"/>
            <a:ext cx="129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CNC turret / VMC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570476" y="4434840"/>
            <a:ext cx="2072579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9753356" y="44348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0210556" y="4434840"/>
            <a:ext cx="129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Honing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" y="5303520"/>
            <a:ext cx="2072579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303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188720" y="5303520"/>
            <a:ext cx="129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Fabrication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2804099" y="5303520"/>
            <a:ext cx="2072579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2986979" y="5303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3444179" y="5303520"/>
            <a:ext cx="129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Assembly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059558" y="5303520"/>
            <a:ext cx="2072579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5242438" y="5303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5699638" y="5303520"/>
            <a:ext cx="129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Coating &amp; paint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7315017" y="5303520"/>
            <a:ext cx="2072579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497897" y="5303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7955097" y="5303520"/>
            <a:ext cx="129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Testing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9570476" y="5303520"/>
            <a:ext cx="2072579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9753356" y="5303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10210556" y="5303520"/>
            <a:ext cx="12953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Packaging &amp; delivery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Installed across residential and commercial sites</a:t>
            </a:r>
            <a:endParaRPr lang="en-US" sz="3000" dirty="0"/>
          </a:p>
        </p:txBody>
      </p:sp>
      <p:pic>
        <p:nvPicPr>
          <p:cNvPr id="4" name="Image 0" descr="Row of SmartPARX two-post stack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486400" cy="4526280"/>
          </a:xfrm>
          <a:prstGeom prst="rect">
            <a:avLst/>
          </a:prstGeom>
        </p:spPr>
      </p:pic>
      <p:pic>
        <p:nvPicPr>
          <p:cNvPr id="5" name="Image 1" descr="Sarvopari, Chanakyapuri — Shayona 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2529688" cy="1874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09360" y="3520440"/>
            <a:ext cx="2529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Sarvopari, Chanakyapuri — Shayona Group</a:t>
            </a:r>
            <a:endParaRPr lang="en-US" sz="1100" dirty="0"/>
          </a:p>
        </p:txBody>
      </p:sp>
      <p:pic>
        <p:nvPicPr>
          <p:cNvPr id="7" name="Image 2" descr="Multi-level puzzle struct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368" y="1600200"/>
            <a:ext cx="2529688" cy="18745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113368" y="3520440"/>
            <a:ext cx="2529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Multi-level puzzle structure</a:t>
            </a:r>
            <a:endParaRPr lang="en-US" sz="1100" dirty="0"/>
          </a:p>
        </p:txBody>
      </p:sp>
      <p:pic>
        <p:nvPicPr>
          <p:cNvPr id="9" name="Image 3" descr="Three-level TPP+ stack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886200"/>
            <a:ext cx="2529688" cy="18745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309360" y="5806440"/>
            <a:ext cx="2529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Three-level TPP+ stacker</a:t>
            </a:r>
            <a:endParaRPr lang="en-US" sz="1100" dirty="0"/>
          </a:p>
        </p:txBody>
      </p:sp>
      <p:pic>
        <p:nvPicPr>
          <p:cNvPr id="11" name="Image 4" descr="Two-post stack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3368" y="3886200"/>
            <a:ext cx="2529688" cy="18745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113368" y="5806440"/>
            <a:ext cx="2529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Two-post stacker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Trusted by 70+ developers and enterprises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572768" cy="841248"/>
          </a:xfrm>
          <a:prstGeom prst="roundRect">
            <a:avLst>
              <a:gd name="adj" fmla="val 10870"/>
            </a:avLst>
          </a:prstGeom>
          <a:solidFill>
            <a:schemeClr val="tx2"/>
          </a:solidFill>
          <a:ln w="9525">
            <a:solidFill>
              <a:srgbClr val="D8D5CA"/>
            </a:solidFill>
            <a:prstDash val="solid"/>
          </a:ln>
        </p:spPr>
      </p:sp>
      <p:pic>
        <p:nvPicPr>
          <p:cNvPr id="5" name="Image 0" descr="avir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875640"/>
            <a:ext cx="1252728" cy="2903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0" y="1600200"/>
            <a:ext cx="1572768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8D5CA"/>
            </a:solidFill>
            <a:prstDash val="solid"/>
          </a:ln>
        </p:spPr>
      </p:sp>
      <p:pic>
        <p:nvPicPr>
          <p:cNvPr id="7" name="Image 1" descr="coru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1764208"/>
            <a:ext cx="1252728" cy="5132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023360" y="1600200"/>
            <a:ext cx="1572768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8D5CA"/>
            </a:solidFill>
            <a:prstDash val="solid"/>
          </a:ln>
        </p:spPr>
      </p:sp>
      <p:pic>
        <p:nvPicPr>
          <p:cNvPr id="9" name="Image 2" descr="moksha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1793767"/>
            <a:ext cx="1252728" cy="45411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760720" y="1600200"/>
            <a:ext cx="1572768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8D5CA"/>
            </a:solidFill>
            <a:prstDash val="solid"/>
          </a:ln>
        </p:spPr>
      </p:sp>
      <p:pic>
        <p:nvPicPr>
          <p:cNvPr id="11" name="Image 3" descr="nakshatra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1870589"/>
            <a:ext cx="1252728" cy="30047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48640" y="2606040"/>
            <a:ext cx="1572768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8D5CA"/>
            </a:solidFill>
            <a:prstDash val="solid"/>
          </a:ln>
        </p:spPr>
      </p:sp>
      <p:pic>
        <p:nvPicPr>
          <p:cNvPr id="13" name="Image 4" descr="sahajanand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2747772"/>
            <a:ext cx="1252728" cy="55778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2286000" y="2606040"/>
            <a:ext cx="1572768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8D5CA"/>
            </a:solidFill>
            <a:prstDash val="solid"/>
          </a:ln>
        </p:spPr>
      </p:sp>
      <p:pic>
        <p:nvPicPr>
          <p:cNvPr id="15" name="Image 5" descr="samruddhi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6020" y="2810798"/>
            <a:ext cx="1252728" cy="431731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4023360" y="2606040"/>
            <a:ext cx="1572768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8D5CA"/>
            </a:solidFill>
            <a:prstDash val="solid"/>
          </a:ln>
        </p:spPr>
      </p:sp>
      <p:pic>
        <p:nvPicPr>
          <p:cNvPr id="17" name="Image 6" descr="sanelite log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2544" y="2743200"/>
            <a:ext cx="914400" cy="566928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5760720" y="2606040"/>
            <a:ext cx="1572768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8D5CA"/>
            </a:solidFill>
            <a:prstDash val="solid"/>
          </a:ln>
        </p:spPr>
      </p:sp>
      <p:pic>
        <p:nvPicPr>
          <p:cNvPr id="19" name="Image 7" descr="shayona log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6532" y="2743200"/>
            <a:ext cx="561143" cy="566928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548640" y="3611880"/>
            <a:ext cx="1572768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8D5CA"/>
            </a:solidFill>
            <a:prstDash val="solid"/>
          </a:ln>
        </p:spPr>
      </p:sp>
      <p:pic>
        <p:nvPicPr>
          <p:cNvPr id="21" name="Image 8" descr="setu log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150" y="3749040"/>
            <a:ext cx="477748" cy="566928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2286000" y="3611880"/>
            <a:ext cx="1572768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8D5CA"/>
            </a:solidFill>
            <a:prstDash val="solid"/>
          </a:ln>
        </p:spPr>
      </p:sp>
      <p:pic>
        <p:nvPicPr>
          <p:cNvPr id="23" name="Image 9" descr="triveni log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46020" y="3787924"/>
            <a:ext cx="1252728" cy="489160"/>
          </a:xfrm>
          <a:prstGeom prst="rect">
            <a:avLst/>
          </a:prstGeom>
        </p:spPr>
      </p:pic>
      <p:sp>
        <p:nvSpPr>
          <p:cNvPr id="24" name="Shape 12"/>
          <p:cNvSpPr/>
          <p:nvPr/>
        </p:nvSpPr>
        <p:spPr>
          <a:xfrm>
            <a:off x="4023360" y="3611880"/>
            <a:ext cx="1572768" cy="841248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9525">
            <a:solidFill>
              <a:srgbClr val="D8D5CA"/>
            </a:solidFill>
            <a:prstDash val="solid"/>
          </a:ln>
        </p:spPr>
      </p:sp>
      <p:pic>
        <p:nvPicPr>
          <p:cNvPr id="25" name="Image 10" descr="utpal log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3380" y="3775479"/>
            <a:ext cx="1252728" cy="514050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7635240" y="1600200"/>
            <a:ext cx="4007815" cy="1325880"/>
          </a:xfrm>
          <a:prstGeom prst="roundRect">
            <a:avLst>
              <a:gd name="adj" fmla="val 9655"/>
            </a:avLst>
          </a:prstGeom>
          <a:solidFill>
            <a:schemeClr val="tx2"/>
          </a:solidFill>
          <a:ln/>
        </p:spPr>
      </p:sp>
      <p:sp>
        <p:nvSpPr>
          <p:cNvPr id="27" name="Text 14"/>
          <p:cNvSpPr txBox="1"/>
          <p:nvPr/>
        </p:nvSpPr>
        <p:spPr>
          <a:xfrm>
            <a:off x="7909560" y="1737360"/>
            <a:ext cx="3459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“We chose SmartPARX again for our 1200 luxury apartments near Naranpura.”</a:t>
            </a:r>
            <a:endParaRPr lang="en-US" sz="1400" dirty="0"/>
          </a:p>
        </p:txBody>
      </p:sp>
      <p:sp>
        <p:nvSpPr>
          <p:cNvPr id="28" name="Text 15"/>
          <p:cNvSpPr txBox="1"/>
          <p:nvPr/>
        </p:nvSpPr>
        <p:spPr>
          <a:xfrm>
            <a:off x="7909560" y="2532888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Shri Mayur Gurjar, Partner, Gunatit Infrastructure</a:t>
            </a:r>
            <a:endParaRPr lang="en-US" sz="1100" dirty="0"/>
          </a:p>
        </p:txBody>
      </p:sp>
      <p:sp>
        <p:nvSpPr>
          <p:cNvPr id="29" name="Shape 16"/>
          <p:cNvSpPr/>
          <p:nvPr/>
        </p:nvSpPr>
        <p:spPr>
          <a:xfrm>
            <a:off x="7635240" y="3108960"/>
            <a:ext cx="4007815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30" name="Text 17"/>
          <p:cNvSpPr txBox="1"/>
          <p:nvPr/>
        </p:nvSpPr>
        <p:spPr>
          <a:xfrm>
            <a:off x="7909560" y="3246120"/>
            <a:ext cx="3459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“Over 550 parking spaces across multiple developments. We value their honest, transparent approach.”</a:t>
            </a:r>
            <a:endParaRPr lang="en-US" sz="1400" dirty="0"/>
          </a:p>
        </p:txBody>
      </p:sp>
      <p:sp>
        <p:nvSpPr>
          <p:cNvPr id="31" name="Text 18"/>
          <p:cNvSpPr txBox="1"/>
          <p:nvPr/>
        </p:nvSpPr>
        <p:spPr>
          <a:xfrm>
            <a:off x="7909560" y="4041648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Shri Kanu Patel, Chairman, Avirat Group</a:t>
            </a:r>
            <a:endParaRPr lang="en-US" sz="1100" dirty="0"/>
          </a:p>
        </p:txBody>
      </p:sp>
      <p:sp>
        <p:nvSpPr>
          <p:cNvPr id="32" name="Shape 19"/>
          <p:cNvSpPr/>
          <p:nvPr/>
        </p:nvSpPr>
        <p:spPr>
          <a:xfrm>
            <a:off x="7635240" y="4617720"/>
            <a:ext cx="4007815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33" name="Text 20"/>
          <p:cNvSpPr txBox="1"/>
          <p:nvPr/>
        </p:nvSpPr>
        <p:spPr>
          <a:xfrm>
            <a:off x="7909560" y="4754880"/>
            <a:ext cx="3459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“Used daily at The Obelisk for six years. They’ve consistently honoured the AMC.”</a:t>
            </a:r>
            <a:endParaRPr lang="en-US" sz="1400" dirty="0"/>
          </a:p>
        </p:txBody>
      </p:sp>
      <p:sp>
        <p:nvSpPr>
          <p:cNvPr id="34" name="Text 21"/>
          <p:cNvSpPr txBox="1"/>
          <p:nvPr/>
        </p:nvSpPr>
        <p:spPr>
          <a:xfrm>
            <a:off x="7909560" y="5550408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Shri Sunil Modi, Partner, Sanelite Group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WARRANTY &amp; SERVICES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team from site survey to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0" cy="45262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tx2"/>
                </a:solidFill>
              </a:rPr>
              <a:t>2+5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91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years of cover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86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 years zero-pay warranty as standard, plus an additional 5 years with an AMC contract.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3492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Excludes damage from water logging, debris, theft, fire and natural events.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70992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1709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645920"/>
            <a:ext cx="6156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Site survey &amp; feasibility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993392"/>
            <a:ext cx="6156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Clear height, column spacing and driveway checked against our guidelines.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62432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09160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560320"/>
            <a:ext cx="6156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Customised design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907792"/>
            <a:ext cx="6156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Lifts from 1.8 m to 10 m, built around walls and D-walls.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53872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0916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3474720"/>
            <a:ext cx="6156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In-house manufacturing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822192"/>
            <a:ext cx="6156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Two Ahmedabad units and indigenous hydraulics.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445312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0916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389120"/>
            <a:ext cx="6156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Installation &amp; commissioning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4736592"/>
            <a:ext cx="6156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Our own crews anchor, align, load-test and train your team.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536752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09160" y="5367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5303520"/>
            <a:ext cx="61566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Warranty &amp; AMC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5650992"/>
            <a:ext cx="6156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Scheduled maintenance that keeps systems running safely.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PARX stacker platfor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Smart</a:t>
            </a:r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PARX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875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Do it the smart way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22860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Let's plan your parking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Book a free site survey and quotation with our engineering team.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490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/ WHATSAPP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7764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+91 99250 36201  ·  +91 97129 37203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342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6285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info@smartparx.com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9194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OFFICE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14807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302, Atlantis One, Sagar Sangeet Cross Roads, Ahmedabad 380060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5046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73328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C1/4524-2, Vatva GIDC, Phase-IV, Ahmedabad 382445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www.smartparx.com</a:t>
            </a:r>
            <a:endParaRPr lang="en-US" sz="1300" dirty="0"/>
          </a:p>
        </p:txBody>
      </p:sp>
      <p:sp>
        <p:nvSpPr>
          <p:cNvPr id="17" name="Text 0"/>
          <p:cNvSpPr/>
          <p:nvPr>
            <p:ph idx="100" type="title" hasCustomPrompt="1"/>
          </p:nvPr>
        </p:nvSpPr>
        <p:spPr>
          <a:xfrm>
            <a:off x="548640" y="23774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PARX">
  <a:themeElements>
    <a:clrScheme name="SmartPARX">
      <a:dk1>
        <a:srgbClr val="121A15"/>
      </a:dk1>
      <a:lt1>
        <a:srgbClr val="FFFFFF"/>
      </a:lt1>
      <a:dk2>
        <a:srgbClr val="0B110D"/>
      </a:dk2>
      <a:lt2>
        <a:srgbClr val="F4F3EE"/>
      </a:lt2>
      <a:accent1>
        <a:srgbClr val="00A456"/>
      </a:accent1>
      <a:accent2>
        <a:srgbClr val="F2C200"/>
      </a:accent2>
      <a:accent3>
        <a:srgbClr val="45524A"/>
      </a:accent3>
      <a:accent4>
        <a:srgbClr val="1FC06F"/>
      </a:accent4>
      <a:accent5>
        <a:srgbClr val="8A958E"/>
      </a:accent5>
      <a:accent6>
        <a:srgbClr val="D8D5CA"/>
      </a:accent6>
      <a:hlink>
        <a:srgbClr val="008044"/>
      </a:hlink>
      <a:folHlink>
        <a:srgbClr val="45524A"/>
      </a:folHlink>
    </a:clrScheme>
    <a:fontScheme name="SmartPARX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SmartPARX Parking Solutions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SmartPARX — Company Profile</dc:title>
  <dc:subject>Automated car parking systems, designed and built in-house</dc:subject>
  <dc:creator>SmartPARX Parking Solutions LLP</dc:creator>
  <cp:lastModifiedBy>SmartPARX Parking Solutions LLP</cp:lastModifiedBy>
  <cp:revision>1</cp:revision>
  <dcterms:created xsi:type="dcterms:W3CDTF">2026-10-27T09:18:12Z</dcterms:created>
  <dcterms:modified xsi:type="dcterms:W3CDTF">2026-10-27T09:18:12Z</dcterms:modified>
</cp:coreProperties>
</file>